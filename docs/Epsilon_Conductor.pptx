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286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E2E8F0"/>
                </a:solidFill>
                <a:latin typeface="Segoe UI"/>
              </a:rPr>
              <a:t>Epsilon Conductor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38328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Segoe UI"/>
              </a:rPr>
              <a:t>Causal marketing decisioning — spend only where it changes the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1148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6007E"/>
                </a:solidFill>
                <a:latin typeface="Segoe UI"/>
              </a:rPr>
              <a:t>We don't predict who will buy. We prove whose decision marketing actually 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Epsilon Hackathon  ·  Theme 02: seamless journeys, clear measures of success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18872" cy="50292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Most marketing pays for sales it already had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Conventional targeting ranks customers by propensity — who is likely to buy.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But most high-propensity buyers would have bought anyway — the discount is wasted margin.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Worse: some customers convert LESS when contacted — and nobody measures it.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No system answers the only question that matters: where does spend change the decision?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Epsilon Conductor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18872" cy="50292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Segoe UI"/>
              </a:rPr>
              <a:t>THE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Four buckets, one question</a:t>
            </a:r>
          </a:p>
        </p:txBody>
      </p:sp>
      <p:pic>
        <p:nvPicPr>
          <p:cNvPr id="6" name="Picture 5" descr="bu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669280" cy="40418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21945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Persuadables — spend here.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Sure Things — buy anyway, save the budget.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Sleeping Dogs — contact backfires, stay silent.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Lost Causes — won't act, skip.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12064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Only the Persuadables are worth a dollar — typically a small slice of the 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Epsilon Conductor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18872" cy="50292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A closed decisioning loop</a:t>
            </a:r>
          </a:p>
        </p:txBody>
      </p:sp>
      <p:pic>
        <p:nvPicPr>
          <p:cNvPr id="6" name="Picture 5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10698480" cy="25808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754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Segoe UI"/>
              </a:rPr>
              <a:t>Identity → causal uplift → channel orchestration → budget allocation → generative message → causal measurement — feeding back into the next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Epsilon Conductor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18872" cy="50292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Segoe UI"/>
              </a:rPr>
              <a:t>THE CAUSAL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We model uplift, not propensity</a:t>
            </a:r>
          </a:p>
        </p:txBody>
      </p:sp>
      <p:pic>
        <p:nvPicPr>
          <p:cNvPr id="6" name="Picture 5" descr="q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120640" cy="38980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19202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EconML X-Learner estimates each customer's incremental effect (CATE).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Trained on the Hillstrom RCT — 64,000 real, randomized customers.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Validated with Qini / AUUC — the right metric for incrementality, not accuracy.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Negative-uplift customers fall out automatically as Sleeping Dogs.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Epsilon Conductor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18872" cy="50292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Segoe UI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Live, per-shopper decisioning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S-Learner scores live behaviour (9 signals) in real time.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Per-product intent across the whole consideration set.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Cross-device identity — cart &amp; points follow the shopper.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Next-best-action: right channel, right time — or deliberate silence.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212080" cy="384048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4A3B8"/>
                </a:solidFill>
                <a:latin typeface="Segoe UI"/>
              </a:rPr>
              <a:t>🖼  Paste screenshot: Console — live shopper view
(/console · two-world economics + per-product cards)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Epsilon Conductor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18872" cy="50292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Segoe UI"/>
              </a:rPr>
              <a:t>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Restraint, measured in dollars</a:t>
            </a:r>
          </a:p>
        </p:txBody>
      </p:sp>
      <p:pic>
        <p:nvPicPr>
          <p:cNvPr id="6" name="Picture 5" descr="two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5486400" cy="37891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19202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Revenue GENERATED — incremental sales from Persuadables.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Budget SAVED — not discounting Sure Things who pay full price.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Revenue PROTECTED — not annoying Sleeping Dogs.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Minimum Effective Dose — the smallest discount that still converts.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Epsilon Conductor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18872" cy="50292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Segoe UI"/>
              </a:rPr>
              <a:t>THE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Proof on a real experiment — measured, not modelled</a:t>
            </a:r>
          </a:p>
        </p:txBody>
      </p:sp>
      <p:pic>
        <p:nvPicPr>
          <p:cNvPr id="6" name="Picture 5" descr="r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91640"/>
            <a:ext cx="6583680" cy="39549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201168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500">
                <a:solidFill>
                  <a:srgbClr val="E2E8F0"/>
                </a:solidFill>
                <a:latin typeface="Segoe UI"/>
              </a:rPr>
              <a:t>Persuadables convert ~2.5× higher when contacted.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500">
                <a:solidFill>
                  <a:srgbClr val="E2E8F0"/>
                </a:solidFill>
                <a:latin typeface="Segoe UI"/>
              </a:rPr>
              <a:t>Sure Things barely move — discounting them is waste.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500">
                <a:solidFill>
                  <a:srgbClr val="E2E8F0"/>
                </a:solidFill>
                <a:latin typeface="Segoe UI"/>
              </a:rPr>
              <a:t>Sleeping Dogs: contact CUT conversion by 1.83 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937760"/>
            <a:ext cx="4297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6007E"/>
                </a:solidFill>
                <a:latin typeface="Segoe UI"/>
              </a:rPr>
              <a:t>That is the spend every propensity model makes blind — and we can prove it on a real RCT.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Epsilon Conductor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18872" cy="50292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Segoe UI"/>
              </a:rPr>
              <a:t>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What's actually new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783080"/>
          <a:ext cx="104241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4206240"/>
              </a:tblGrid>
              <a:tr h="5257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E6007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Conventional martech</a:t>
                      </a:r>
                    </a:p>
                  </a:txBody>
                  <a:tcPr>
                    <a:solidFill>
                      <a:srgbClr val="E6007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Epsilon Conductor</a:t>
                      </a:r>
                    </a:p>
                  </a:txBody>
                  <a:tcPr>
                    <a:solidFill>
                      <a:srgbClr val="E6007E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Target signal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Propensity — who'll buy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2E8F0"/>
                          </a:solidFill>
                          <a:latin typeface="Segoe UI"/>
                        </a:rPr>
                        <a:t>Uplift / CATE — whose mind we change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Live scoring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Rules or stale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2E8F0"/>
                          </a:solidFill>
                          <a:latin typeface="Segoe UI"/>
                        </a:rPr>
                        <a:t>S-Learner on live behaviour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Channel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Same blast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2E8F0"/>
                          </a:solidFill>
                          <a:latin typeface="Segoe UI"/>
                        </a:rPr>
                        <a:t>Thompson bandit + timing policy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Budget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Top-N by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2E8F0"/>
                          </a:solidFill>
                          <a:latin typeface="Segoe UI"/>
                        </a:rPr>
                        <a:t>0/1 knapsack, marginal-ROI knee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Discount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Blanket 20%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2E8F0"/>
                          </a:solidFill>
                          <a:latin typeface="Segoe UI"/>
                        </a:rPr>
                        <a:t>Minimum effective dose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Success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Clicks / conversions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2E8F0"/>
                          </a:solidFill>
                          <a:latin typeface="Segoe UI"/>
                        </a:rPr>
                        <a:t>Qini + real RCT proof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Restraint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94A3B8"/>
                          </a:solidFill>
                          <a:latin typeface="Segoe UI"/>
                        </a:rPr>
                        <a:t>Not modelled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2E8F0"/>
                          </a:solidFill>
                          <a:latin typeface="Segoe UI"/>
                        </a:rPr>
                        <a:t>Generated · Saved · Protected ($)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Epsilon Conductor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18872" cy="50292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Segoe UI"/>
              </a:rPr>
              <a:t>WE DID THE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Built on Epsilon's own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Dell “Unfrozen”: split dormant customers into Nappers &amp; Dormants — and chose to let some go.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That restraint drove ~6% more revenue and ~8% higher margin. Letting go IS the thesis.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Walgreens: a decade of per-person, cross-channel journeys.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6007E"/>
                </a:solidFill>
                <a:latin typeface="Segoe UI"/>
              </a:rPr>
              <a:t>▪  </a:t>
            </a:r>
            <a:r>
              <a:rPr sz="1600">
                <a:solidFill>
                  <a:srgbClr val="E2E8F0"/>
                </a:solidFill>
                <a:latin typeface="Segoe UI"/>
              </a:rPr>
              <a:t>Conductor is the causal layer on top of CORE ID + PeopleCloud — every touch made provably worth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Epsilon Conductor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18872" cy="50292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Segoe U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E6007E"/>
                </a:solidFill>
                <a:latin typeface="Segoe UI"/>
              </a:rPr>
              <a:t>Causal ML   </a:t>
            </a:r>
            <a:r>
              <a:rPr sz="1600">
                <a:solidFill>
                  <a:srgbClr val="E2E8F0"/>
                </a:solidFill>
                <a:latin typeface="Segoe UI"/>
              </a:rPr>
              <a:t>EconML X-Learner · S-Learner · scikit-learn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E6007E"/>
                </a:solidFill>
                <a:latin typeface="Segoe UI"/>
              </a:rPr>
              <a:t>Orchestration   </a:t>
            </a:r>
            <a:r>
              <a:rPr sz="1600">
                <a:solidFill>
                  <a:srgbClr val="E2E8F0"/>
                </a:solidFill>
                <a:latin typeface="Segoe UI"/>
              </a:rPr>
              <a:t>Thompson-sampling contextual bandit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E6007E"/>
                </a:solidFill>
                <a:latin typeface="Segoe UI"/>
              </a:rPr>
              <a:t>Optimization   </a:t>
            </a:r>
            <a:r>
              <a:rPr sz="1600">
                <a:solidFill>
                  <a:srgbClr val="E2E8F0"/>
                </a:solidFill>
                <a:latin typeface="Segoe UI"/>
              </a:rPr>
              <a:t>PuLP 0/1 knapsack · marginal-ROI knee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E6007E"/>
                </a:solidFill>
                <a:latin typeface="Segoe UI"/>
              </a:rPr>
              <a:t>Data / proof   </a:t>
            </a:r>
            <a:r>
              <a:rPr sz="1600">
                <a:solidFill>
                  <a:srgbClr val="E2E8F0"/>
                </a:solidFill>
                <a:latin typeface="Segoe UI"/>
              </a:rPr>
              <a:t>Hillstrom RCT · Qini / AUUC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E6007E"/>
                </a:solidFill>
                <a:latin typeface="Segoe UI"/>
              </a:rPr>
              <a:t>Backend   </a:t>
            </a:r>
            <a:r>
              <a:rPr sz="1600">
                <a:solidFill>
                  <a:srgbClr val="E2E8F0"/>
                </a:solidFill>
                <a:latin typeface="Segoe UI"/>
              </a:rPr>
              <a:t>FastAPI · real-time SSE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E6007E"/>
                </a:solidFill>
                <a:latin typeface="Segoe UI"/>
              </a:rPr>
              <a:t>Frontend   </a:t>
            </a:r>
            <a:r>
              <a:rPr sz="1600">
                <a:solidFill>
                  <a:srgbClr val="E2E8F0"/>
                </a:solidFill>
                <a:latin typeface="Segoe UI"/>
              </a:rPr>
              <a:t>Next.js · Recharts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E6007E"/>
                </a:solidFill>
                <a:latin typeface="Segoe UI"/>
              </a:rPr>
              <a:t>Generative   </a:t>
            </a:r>
            <a:r>
              <a:rPr sz="1600">
                <a:solidFill>
                  <a:srgbClr val="E2E8F0"/>
                </a:solidFill>
                <a:latin typeface="Segoe UI"/>
              </a:rPr>
              <a:t>Claude — per-decision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Epsilon Conductor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468880"/>
            <a:ext cx="164592" cy="155448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4688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Segoe UI"/>
              </a:rPr>
              <a:t>We don't just market smarter.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3832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E6007E"/>
                </a:solidFill>
                <a:latin typeface="Segoe UI"/>
              </a:rPr>
              <a:t>We prove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754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Segoe UI"/>
              </a:rPr>
              <a:t>Seamless across every channel and device · every decision explainable · every dollar tied to a measured outcome.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6035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Segoe U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